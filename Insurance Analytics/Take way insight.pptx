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72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91" y="3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84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5029200" cy="5029200"/>
          </a:xfrm>
          <a:prstGeom prst="ellipse">
            <a:avLst/>
          </a:prstGeom>
          <a:solidFill>
            <a:srgbClr val="0F2A4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2743200"/>
            <a:ext cx="3108960" cy="3108960"/>
          </a:xfrm>
          <a:prstGeom prst="ellipse">
            <a:avLst/>
          </a:prstGeom>
          <a:solidFill>
            <a:srgbClr val="1B8A8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B8A8A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1B8A8A"/>
          </a:solidFill>
          <a:ln/>
        </p:spPr>
      </p:sp>
      <p:pic>
        <p:nvPicPr>
          <p:cNvPr id="6" name="Image 0" descr="/home/claude/work/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75895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ANALYTICS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6517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Analytics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548640" y="38862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Claims &amp; Policy Data into Strategic Business Intelligence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66928" y="4526280"/>
            <a:ext cx="118872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Analytics Deck  |  Claims  ·  Underwriting  ·  Retention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1B8A8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96596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Group Details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B8A8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17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301752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Project summary</a:t>
            </a:r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566928" cy="566928"/>
          </a:xfrm>
          <a:prstGeom prst="ellipse">
            <a:avLst/>
          </a:prstGeom>
          <a:solidFill>
            <a:srgbClr val="1B8A8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069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406908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566928" cy="566928"/>
          </a:xfrm>
          <a:prstGeom prst="ellipse">
            <a:avLst/>
          </a:prstGeom>
          <a:solidFill>
            <a:srgbClr val="1B8A8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120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512064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Excel Dashboard</a:t>
            </a:r>
          </a:p>
        </p:txBody>
      </p:sp>
      <p:sp>
        <p:nvSpPr>
          <p:cNvPr id="16" name="Shape 14"/>
          <p:cNvSpPr/>
          <p:nvPr/>
        </p:nvSpPr>
        <p:spPr>
          <a:xfrm>
            <a:off x="6309360" y="1965960"/>
            <a:ext cx="566928" cy="566928"/>
          </a:xfrm>
          <a:prstGeom prst="ellipse">
            <a:avLst/>
          </a:prstGeom>
          <a:solidFill>
            <a:srgbClr val="1B8A8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965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40880" y="196596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Power BI dashboard</a:t>
            </a:r>
          </a:p>
        </p:txBody>
      </p:sp>
      <p:sp>
        <p:nvSpPr>
          <p:cNvPr id="19" name="Shape 17"/>
          <p:cNvSpPr/>
          <p:nvPr/>
        </p:nvSpPr>
        <p:spPr>
          <a:xfrm>
            <a:off x="6309360" y="3017520"/>
            <a:ext cx="566928" cy="566928"/>
          </a:xfrm>
          <a:prstGeom prst="ellipse">
            <a:avLst/>
          </a:prstGeom>
          <a:solidFill>
            <a:srgbClr val="1B8A8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0175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40880" y="301752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Tableau dashboard and SQL Data transformation</a:t>
            </a:r>
          </a:p>
        </p:txBody>
      </p:sp>
      <p:sp>
        <p:nvSpPr>
          <p:cNvPr id="22" name="Shape 20"/>
          <p:cNvSpPr/>
          <p:nvPr/>
        </p:nvSpPr>
        <p:spPr>
          <a:xfrm>
            <a:off x="6309360" y="4069080"/>
            <a:ext cx="566928" cy="566928"/>
          </a:xfrm>
          <a:prstGeom prst="ellipse">
            <a:avLst/>
          </a:prstGeom>
          <a:solidFill>
            <a:srgbClr val="1B8A8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4069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406908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5120640"/>
            <a:ext cx="566928" cy="566928"/>
          </a:xfrm>
          <a:prstGeom prst="ellipse">
            <a:avLst/>
          </a:prstGeom>
          <a:solidFill>
            <a:srgbClr val="1B8A8A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5120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40880" y="5120640"/>
            <a:ext cx="4297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417320"/>
            <a:ext cx="5486400" cy="4754880"/>
          </a:xfrm>
          <a:prstGeom prst="roundRect">
            <a:avLst>
              <a:gd name="adj" fmla="val 1538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Insurance Analytics dashboard analyzing </a:t>
            </a:r>
            <a:r>
              <a:rPr lang="en-US" sz="140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48,500 policies</a:t>
            </a:r>
            <a:r>
              <a:rPr lang="en-US" sz="14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auto, property, health and liability lines, tracking </a:t>
            </a:r>
            <a:r>
              <a:rPr lang="en-US" sz="140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$184.6M</a:t>
            </a:r>
            <a:r>
              <a:rPr lang="en-US" sz="14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gross written premium and </a:t>
            </a:r>
            <a:r>
              <a:rPr lang="en-US" sz="1400" b="1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$102.3M</a:t>
            </a:r>
            <a:r>
              <a:rPr lang="en-US" sz="140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paid claims. The dashboard tracks underwriting, claims settlement, fraud, and customer retention KPIs.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666744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353872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led all regions with $98.4M GWP and 41,300 policies.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151376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0233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Insurance was the top revenue line at $71.2M GWP.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636008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50799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settlement rate reached 93.2% with 5.8-day average processing 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5120640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99262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 held at 55.4%, keeping the combined ratio at a healthy 96.1%.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5605272"/>
            <a:ext cx="82296" cy="8229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47725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analytics flagged and prevented $6.8M in suspicious claims.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55080" y="1417320"/>
            <a:ext cx="5303520" cy="4754880"/>
          </a:xfrm>
          <a:prstGeom prst="roundRect">
            <a:avLst>
              <a:gd name="adj" fmla="val 1538"/>
            </a:avLst>
          </a:prstGeom>
          <a:solidFill>
            <a:srgbClr val="0F2A47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FORECAST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011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 Continues Into Next Year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75120" y="3657600"/>
            <a:ext cx="4480560" cy="0"/>
          </a:xfrm>
          <a:prstGeom prst="line">
            <a:avLst/>
          </a:prstGeom>
          <a:noFill/>
          <a:ln w="12700">
            <a:solidFill>
              <a:srgbClr val="244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788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Written Premium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02666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$204.0M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675120" y="344728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+10.5% vs. current year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4709160"/>
            <a:ext cx="4480560" cy="0"/>
          </a:xfrm>
          <a:prstGeom prst="line">
            <a:avLst/>
          </a:prstGeom>
          <a:noFill/>
          <a:ln w="12700">
            <a:solidFill>
              <a:srgbClr val="244A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840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Claims Paid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407822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$109.0M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675120" y="44988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 held near 53%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5760720"/>
            <a:ext cx="4480560" cy="0"/>
          </a:xfrm>
          <a:prstGeom prst="line">
            <a:avLst/>
          </a:prstGeom>
          <a:noFill/>
          <a:ln w="12700">
            <a:solidFill>
              <a:srgbClr val="244A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892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Policies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512978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53,800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675120" y="55504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+10.9% policy growth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Analytics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463040"/>
            <a:ext cx="3611880" cy="1481328"/>
          </a:xfrm>
          <a:prstGeom prst="roundRect">
            <a:avLst>
              <a:gd name="adj" fmla="val 4321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82496"/>
            <a:ext cx="512064" cy="512064"/>
          </a:xfrm>
          <a:prstGeom prst="ellipse">
            <a:avLst/>
          </a:prstGeom>
          <a:solidFill>
            <a:srgbClr val="1B8A8A"/>
          </a:solidFill>
          <a:ln/>
        </p:spPr>
      </p:sp>
      <p:pic>
        <p:nvPicPr>
          <p:cNvPr id="6" name="Image 0" descr="/home/claude/work/icons/doll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013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6276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GROWTH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399032" y="1828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$184.6M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" y="23957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Written Premium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51960" y="1463040"/>
            <a:ext cx="3611880" cy="1481328"/>
          </a:xfrm>
          <a:prstGeom prst="roundRect">
            <a:avLst>
              <a:gd name="adj" fmla="val 4321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53128" y="1682496"/>
            <a:ext cx="512064" cy="512064"/>
          </a:xfrm>
          <a:prstGeom prst="ellipse">
            <a:avLst/>
          </a:prstGeom>
          <a:solidFill>
            <a:srgbClr val="1B8A8A"/>
          </a:solidFill>
          <a:ln/>
        </p:spPr>
      </p:sp>
      <p:pic>
        <p:nvPicPr>
          <p:cNvPr id="12" name="Image 1" descr="/home/claude/work/icons/fileTex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80136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0640" y="16276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SIZE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120640" y="1828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48,500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453128" y="23957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Policies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73568" y="1463040"/>
            <a:ext cx="3611880" cy="1481328"/>
          </a:xfrm>
          <a:prstGeom prst="roundRect">
            <a:avLst>
              <a:gd name="adj" fmla="val 4321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74736" y="1682496"/>
            <a:ext cx="512064" cy="512064"/>
          </a:xfrm>
          <a:prstGeom prst="ellipse">
            <a:avLst/>
          </a:prstGeom>
          <a:solidFill>
            <a:srgbClr val="1B8A8A"/>
          </a:solidFill>
          <a:ln/>
        </p:spPr>
      </p:sp>
      <p:pic>
        <p:nvPicPr>
          <p:cNvPr id="18" name="Image 2" descr="/home/claude/work/icons/check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180136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42248" y="16276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PERFORMANCE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842248" y="1828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93.2%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8174736" y="23957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Settlement Rate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30352" y="3072384"/>
            <a:ext cx="3611880" cy="1481328"/>
          </a:xfrm>
          <a:prstGeom prst="roundRect">
            <a:avLst>
              <a:gd name="adj" fmla="val 4321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31520" y="3291840"/>
            <a:ext cx="512064" cy="512064"/>
          </a:xfrm>
          <a:prstGeom prst="ellipse">
            <a:avLst/>
          </a:prstGeom>
          <a:solidFill>
            <a:srgbClr val="1B8A8A"/>
          </a:solidFill>
          <a:ln/>
        </p:spPr>
      </p:sp>
      <p:pic>
        <p:nvPicPr>
          <p:cNvPr id="24" name="Image 3" descr="/home/claude/work/icons/clo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341071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99032" y="323697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SPEED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399032" y="343814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 days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731520" y="40050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Claim Processing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251960" y="3072384"/>
            <a:ext cx="3611880" cy="1481328"/>
          </a:xfrm>
          <a:prstGeom prst="roundRect">
            <a:avLst>
              <a:gd name="adj" fmla="val 4321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453128" y="3291840"/>
            <a:ext cx="512064" cy="512064"/>
          </a:xfrm>
          <a:prstGeom prst="ellipse">
            <a:avLst/>
          </a:prstGeom>
          <a:solidFill>
            <a:srgbClr val="1B8A8A"/>
          </a:solidFill>
          <a:ln/>
        </p:spPr>
      </p:sp>
      <p:pic>
        <p:nvPicPr>
          <p:cNvPr id="30" name="Image 4" descr="/home/claude/work/icons/percen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41071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20640" y="323697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HEALTH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5120640" y="343814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55.4%</a:t>
            </a:r>
            <a:endParaRPr lang="en-US" sz="2400" dirty="0"/>
          </a:p>
        </p:txBody>
      </p:sp>
      <p:sp>
        <p:nvSpPr>
          <p:cNvPr id="33" name="Text 26"/>
          <p:cNvSpPr/>
          <p:nvPr/>
        </p:nvSpPr>
        <p:spPr>
          <a:xfrm>
            <a:off x="4453128" y="40050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Ratio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7973568" y="3072384"/>
            <a:ext cx="3611880" cy="1481328"/>
          </a:xfrm>
          <a:prstGeom prst="roundRect">
            <a:avLst>
              <a:gd name="adj" fmla="val 4321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174736" y="3291840"/>
            <a:ext cx="512064" cy="512064"/>
          </a:xfrm>
          <a:prstGeom prst="ellipse">
            <a:avLst/>
          </a:prstGeom>
          <a:solidFill>
            <a:srgbClr val="1B8A8A"/>
          </a:solidFill>
          <a:ln/>
        </p:spPr>
      </p:sp>
      <p:pic>
        <p:nvPicPr>
          <p:cNvPr id="36" name="Image 5" descr="/home/claude/work/icons/activity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608" y="3410712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842248" y="323697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8842248" y="343814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96.1%</a:t>
            </a:r>
            <a:endParaRPr lang="en-US" sz="2400" dirty="0"/>
          </a:p>
        </p:txBody>
      </p:sp>
      <p:sp>
        <p:nvSpPr>
          <p:cNvPr id="39" name="Text 31"/>
          <p:cNvSpPr/>
          <p:nvPr/>
        </p:nvSpPr>
        <p:spPr>
          <a:xfrm>
            <a:off x="8174736" y="400507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Ratio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530352" y="4681728"/>
            <a:ext cx="3611880" cy="1481328"/>
          </a:xfrm>
          <a:prstGeom prst="roundRect">
            <a:avLst>
              <a:gd name="adj" fmla="val 4321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731520" y="4901184"/>
            <a:ext cx="512064" cy="512064"/>
          </a:xfrm>
          <a:prstGeom prst="ellipse">
            <a:avLst/>
          </a:prstGeom>
          <a:solidFill>
            <a:srgbClr val="1B8A8A"/>
          </a:solidFill>
          <a:ln/>
        </p:spPr>
      </p:sp>
      <p:pic>
        <p:nvPicPr>
          <p:cNvPr id="42" name="Image 6" descr="/home/claude/work/icons/heart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" y="5020056"/>
            <a:ext cx="274320" cy="27432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399032" y="48463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1399032" y="50474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88.6%</a:t>
            </a:r>
            <a:endParaRPr lang="en-US" sz="2400" dirty="0"/>
          </a:p>
        </p:txBody>
      </p:sp>
      <p:sp>
        <p:nvSpPr>
          <p:cNvPr id="45" name="Text 36"/>
          <p:cNvSpPr/>
          <p:nvPr/>
        </p:nvSpPr>
        <p:spPr>
          <a:xfrm>
            <a:off x="731520" y="561441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150" dirty="0"/>
          </a:p>
        </p:txBody>
      </p:sp>
      <p:sp>
        <p:nvSpPr>
          <p:cNvPr id="46" name="Shape 37"/>
          <p:cNvSpPr/>
          <p:nvPr/>
        </p:nvSpPr>
        <p:spPr>
          <a:xfrm>
            <a:off x="4251960" y="4681728"/>
            <a:ext cx="3611880" cy="1481328"/>
          </a:xfrm>
          <a:prstGeom prst="roundRect">
            <a:avLst>
              <a:gd name="adj" fmla="val 4321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4453128" y="4901184"/>
            <a:ext cx="512064" cy="512064"/>
          </a:xfrm>
          <a:prstGeom prst="ellipse">
            <a:avLst/>
          </a:prstGeom>
          <a:solidFill>
            <a:srgbClr val="1B8A8A"/>
          </a:solidFill>
          <a:ln/>
        </p:spPr>
      </p:sp>
      <p:pic>
        <p:nvPicPr>
          <p:cNvPr id="48" name="Image 7" descr="/home/claude/work/icons/award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5020056"/>
            <a:ext cx="274320" cy="27432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120640" y="48463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950" dirty="0"/>
          </a:p>
        </p:txBody>
      </p:sp>
      <p:sp>
        <p:nvSpPr>
          <p:cNvPr id="50" name="Text 40"/>
          <p:cNvSpPr/>
          <p:nvPr/>
        </p:nvSpPr>
        <p:spPr>
          <a:xfrm>
            <a:off x="5120640" y="50474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400" dirty="0"/>
          </a:p>
        </p:txBody>
      </p:sp>
      <p:sp>
        <p:nvSpPr>
          <p:cNvPr id="51" name="Text 41"/>
          <p:cNvSpPr/>
          <p:nvPr/>
        </p:nvSpPr>
        <p:spPr>
          <a:xfrm>
            <a:off x="4453128" y="561441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</a:t>
            </a:r>
            <a:endParaRPr lang="en-US" sz="1150" dirty="0"/>
          </a:p>
        </p:txBody>
      </p:sp>
      <p:sp>
        <p:nvSpPr>
          <p:cNvPr id="52" name="Shape 42"/>
          <p:cNvSpPr/>
          <p:nvPr/>
        </p:nvSpPr>
        <p:spPr>
          <a:xfrm>
            <a:off x="7973568" y="4681728"/>
            <a:ext cx="3611880" cy="1481328"/>
          </a:xfrm>
          <a:prstGeom prst="roundRect">
            <a:avLst>
              <a:gd name="adj" fmla="val 4321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8174736" y="4901184"/>
            <a:ext cx="512064" cy="512064"/>
          </a:xfrm>
          <a:prstGeom prst="ellipse">
            <a:avLst/>
          </a:prstGeom>
          <a:solidFill>
            <a:srgbClr val="1B8A8A"/>
          </a:solidFill>
          <a:ln/>
        </p:spPr>
      </p:sp>
      <p:pic>
        <p:nvPicPr>
          <p:cNvPr id="54" name="Image 8" descr="/home/claude/work/icons/alertTriangle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3608" y="5020056"/>
            <a:ext cx="274320" cy="274320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8842248" y="48463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</a:t>
            </a:r>
            <a:endParaRPr lang="en-US" sz="950" dirty="0"/>
          </a:p>
        </p:txBody>
      </p:sp>
      <p:sp>
        <p:nvSpPr>
          <p:cNvPr id="56" name="Text 45"/>
          <p:cNvSpPr/>
          <p:nvPr/>
        </p:nvSpPr>
        <p:spPr>
          <a:xfrm>
            <a:off x="8842248" y="504748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$6.8M</a:t>
            </a:r>
            <a:endParaRPr lang="en-US" sz="2400" dirty="0"/>
          </a:p>
        </p:txBody>
      </p:sp>
      <p:sp>
        <p:nvSpPr>
          <p:cNvPr id="57" name="Text 46"/>
          <p:cNvSpPr/>
          <p:nvPr/>
        </p:nvSpPr>
        <p:spPr>
          <a:xfrm>
            <a:off x="8174736" y="561441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Value Prevented</a:t>
            </a:r>
            <a:endParaRPr lang="en-US" sz="1150" dirty="0"/>
          </a:p>
        </p:txBody>
      </p:sp>
      <p:sp>
        <p:nvSpPr>
          <p:cNvPr id="58" name="Text 4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Analytics</a:t>
            </a:r>
            <a:endParaRPr lang="en-US" sz="900" dirty="0"/>
          </a:p>
        </p:txBody>
      </p:sp>
      <p:sp>
        <p:nvSpPr>
          <p:cNvPr id="59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F81053-30C7-E111-4FD0-1340F01B2148}"/>
              </a:ext>
            </a:extLst>
          </p:cNvPr>
          <p:cNvSpPr txBox="1"/>
          <p:nvPr/>
        </p:nvSpPr>
        <p:spPr>
          <a:xfrm>
            <a:off x="260949" y="232334"/>
            <a:ext cx="6094562" cy="59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Excel Dashboard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D50B48-3A82-31F3-D375-A4BAA0F6F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3" y="858416"/>
            <a:ext cx="12154953" cy="573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41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2CCC40-0D32-8064-1230-3C48340B989B}"/>
              </a:ext>
            </a:extLst>
          </p:cNvPr>
          <p:cNvSpPr txBox="1"/>
          <p:nvPr/>
        </p:nvSpPr>
        <p:spPr>
          <a:xfrm>
            <a:off x="286828" y="267202"/>
            <a:ext cx="6094562" cy="42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b="1" dirty="0"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Power BI Dashboard</a:t>
            </a:r>
            <a:endParaRPr lang="en-US" sz="2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C8D918-6850-E430-13A3-14A5F590C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0355"/>
            <a:ext cx="12191999" cy="546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84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48B5F9-93AF-A1E6-3409-A95D1EE07523}"/>
              </a:ext>
            </a:extLst>
          </p:cNvPr>
          <p:cNvSpPr txBox="1"/>
          <p:nvPr/>
        </p:nvSpPr>
        <p:spPr>
          <a:xfrm>
            <a:off x="528368" y="366776"/>
            <a:ext cx="6094562" cy="43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50" b="1" dirty="0"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Tableau Dashboard</a:t>
            </a:r>
            <a:endParaRPr lang="en-US" sz="21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FCC41-E36A-0DEC-AAAA-48510F386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7791"/>
            <a:ext cx="12191999" cy="598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3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F30573-D2AB-577D-7416-6825E694824D}"/>
              </a:ext>
            </a:extLst>
          </p:cNvPr>
          <p:cNvSpPr txBox="1"/>
          <p:nvPr/>
        </p:nvSpPr>
        <p:spPr>
          <a:xfrm>
            <a:off x="373092" y="473496"/>
            <a:ext cx="6094562" cy="407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latin typeface="Geist Bold" pitchFamily="34" charset="0"/>
                <a:ea typeface="Geist Bold" pitchFamily="34" charset="-122"/>
                <a:cs typeface="Geist Bold" pitchFamily="34" charset="-120"/>
              </a:rPr>
              <a:t>SQL Data Transformation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10C00-4649-ABA6-D3C0-0116C3F84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6697"/>
            <a:ext cx="12192000" cy="586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40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46304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82496"/>
            <a:ext cx="512064" cy="512064"/>
          </a:xfrm>
          <a:prstGeom prst="ellipse">
            <a:avLst/>
          </a:prstGeom>
          <a:solidFill>
            <a:srgbClr val="0F2A47"/>
          </a:solidFill>
          <a:ln/>
        </p:spPr>
      </p:sp>
      <p:pic>
        <p:nvPicPr>
          <p:cNvPr id="6" name="Image 0" descr="/home/claude/work/icons/trendingUp_C9A2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013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31720"/>
            <a:ext cx="3172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Auto Insurance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2761488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line at $71.2M GWP — prioritize product and marketing investment.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51960" y="146304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71416" y="1682496"/>
            <a:ext cx="512064" cy="512064"/>
          </a:xfrm>
          <a:prstGeom prst="ellipse">
            <a:avLst/>
          </a:prstGeom>
          <a:solidFill>
            <a:srgbClr val="0F2A47"/>
          </a:solidFill>
          <a:ln/>
        </p:spPr>
      </p:sp>
      <p:pic>
        <p:nvPicPr>
          <p:cNvPr id="11" name="Image 1" descr="/home/claude/work/icons/clock_C9A2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180136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71416" y="2331720"/>
            <a:ext cx="3172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Accelerate Claims Processing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71416" y="2761488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average processing time from 5.8 to under 4 days with automated triage.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73568" y="146304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93024" y="1682496"/>
            <a:ext cx="512064" cy="512064"/>
          </a:xfrm>
          <a:prstGeom prst="ellipse">
            <a:avLst/>
          </a:prstGeom>
          <a:solidFill>
            <a:srgbClr val="0F2A47"/>
          </a:solidFill>
          <a:ln/>
        </p:spPr>
      </p:sp>
      <p:pic>
        <p:nvPicPr>
          <p:cNvPr id="16" name="Image 2" descr="/home/claude/work/icons/globe_C9A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18013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93024" y="2331720"/>
            <a:ext cx="3172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in North America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93024" y="2761488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region at $98.4M GWP and 41,300 policies — fund further growth.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30352" y="3776472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995928"/>
            <a:ext cx="512064" cy="512064"/>
          </a:xfrm>
          <a:prstGeom prst="ellipse">
            <a:avLst/>
          </a:prstGeom>
          <a:solidFill>
            <a:srgbClr val="0F2A47"/>
          </a:solidFill>
          <a:ln/>
        </p:spPr>
      </p:sp>
      <p:pic>
        <p:nvPicPr>
          <p:cNvPr id="21" name="Image 3" descr="/home/claude/work/icons/alertTriangle_C9A2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1148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645152"/>
            <a:ext cx="3172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Strengthen Fraud Detection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9808" y="507492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ML model that already prevented $6.8M in suspicious claims.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51960" y="3776472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71416" y="3995928"/>
            <a:ext cx="512064" cy="512064"/>
          </a:xfrm>
          <a:prstGeom prst="ellipse">
            <a:avLst/>
          </a:prstGeom>
          <a:solidFill>
            <a:srgbClr val="0F2A47"/>
          </a:solidFill>
          <a:ln/>
        </p:spPr>
      </p:sp>
      <p:pic>
        <p:nvPicPr>
          <p:cNvPr id="26" name="Image 4" descr="/home/claude/work/icons/heart_C9A2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0288" y="411480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71416" y="4645152"/>
            <a:ext cx="3172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 APAC Retention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71416" y="507492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regional retention at 82.6% — launch targeted loyalty programs.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73568" y="3776472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7F9FA"/>
          </a:solidFill>
          <a:ln w="12700">
            <a:solidFill>
              <a:srgbClr val="DDE5E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93024" y="3995928"/>
            <a:ext cx="512064" cy="512064"/>
          </a:xfrm>
          <a:prstGeom prst="ellipse">
            <a:avLst/>
          </a:prstGeom>
          <a:solidFill>
            <a:srgbClr val="0F2A47"/>
          </a:solidFill>
          <a:ln/>
        </p:spPr>
      </p:sp>
      <p:pic>
        <p:nvPicPr>
          <p:cNvPr id="31" name="Image 5" descr="/home/claude/work/icons/checkCircle_C9A2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1896" y="41148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93024" y="4645152"/>
            <a:ext cx="3172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 Underwriting Discipline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193024" y="507492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96.1% combined ratio and 55.4% loss ratio through cycle.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Analytics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5029200" cy="5029200"/>
          </a:xfrm>
          <a:prstGeom prst="ellipse">
            <a:avLst/>
          </a:prstGeom>
          <a:solidFill>
            <a:srgbClr val="0F2A4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B8A8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1B8A8A"/>
          </a:solidFill>
          <a:ln/>
        </p:spPr>
      </p:sp>
      <p:pic>
        <p:nvPicPr>
          <p:cNvPr id="5" name="Image 0" descr="/home/claude/work/icons/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7589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0352" y="1920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7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supports strategic decision-making by strengthening underwriting discipline, accelerating claims processing, and deepening customer retention — driving sustainable, profitable growth across every line of business.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4434840"/>
            <a:ext cx="2308860" cy="457200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34840"/>
            <a:ext cx="2308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 Settlement Rate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58668" y="443484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58668" y="44348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 Combined Ratio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72684" y="4434840"/>
            <a:ext cx="1732788" cy="457200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72684" y="4434840"/>
            <a:ext cx="17327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88.6% Retention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06640" y="4434840"/>
            <a:ext cx="2308860" cy="457200"/>
          </a:xfrm>
          <a:prstGeom prst="roundRect">
            <a:avLst>
              <a:gd name="adj" fmla="val 50000"/>
            </a:avLst>
          </a:prstGeom>
          <a:solidFill>
            <a:srgbClr val="0F2A47"/>
          </a:solidFill>
          <a:ln w="12700">
            <a:solidFill>
              <a:srgbClr val="1B8A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06640" y="4434840"/>
            <a:ext cx="23088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$6.8M Fraud Prevented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Analytics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73CB1E-BAF6-EE19-D340-29D12387F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135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449</Words>
  <Application>Microsoft Office PowerPoint</Application>
  <PresentationFormat>Widescreen</PresentationFormat>
  <Paragraphs>110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Geist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ARUN R</cp:lastModifiedBy>
  <cp:revision>4</cp:revision>
  <dcterms:created xsi:type="dcterms:W3CDTF">2026-07-18T07:51:25Z</dcterms:created>
  <dcterms:modified xsi:type="dcterms:W3CDTF">2026-10-13T05:45:13Z</dcterms:modified>
</cp:coreProperties>
</file>